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Funnel Sans" panose="020B0604020202020204" charset="0"/>
      <p:regular r:id="rId13"/>
    </p:embeddedFont>
    <p:embeddedFont>
      <p:font typeface="Mona Sans Semi Bol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2626"/>
    <a:srgbClr val="1917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2" d="100"/>
          <a:sy n="62" d="100"/>
        </p:scale>
        <p:origin x="33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4601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0"/>
            <a:ext cx="603504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337197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Stock Market Analysis: Data-Driven Investment Intelligence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803696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Transforming raw market data into actionable insights through advanced analytics, interactive visualizations, and web-based tools for investors, traders, and financial analysts.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43896"/>
            <a:ext cx="7604284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Bridging Data Science and Financial Markets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288268"/>
            <a:ext cx="7604284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This comprehensive project harnesses the power of data science to decode stock market complexities. By combining Python analytics, advanced visualization techniques, and machine learning approaches, we create a robust foundation for informed investment strategies.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943951"/>
            <a:ext cx="760428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Our methodology transforms chaotic market data into clear, actionable intelligence that empowers both seasoned professionals and emerging investors to make data-backed decisions in volatile market conditions.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9096" y="1672233"/>
            <a:ext cx="4885015" cy="488501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224D1D0-29A9-8AE6-2451-BCFC4B6B60B3}"/>
              </a:ext>
            </a:extLst>
          </p:cNvPr>
          <p:cNvSpPr/>
          <p:nvPr/>
        </p:nvSpPr>
        <p:spPr>
          <a:xfrm>
            <a:off x="12778450" y="7627716"/>
            <a:ext cx="1828800" cy="578734"/>
          </a:xfrm>
          <a:prstGeom prst="rect">
            <a:avLst/>
          </a:prstGeom>
          <a:solidFill>
            <a:srgbClr val="191717"/>
          </a:solidFill>
          <a:ln>
            <a:solidFill>
              <a:srgbClr val="1917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03504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71592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The Challenge: Navigating Market Volatility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473643"/>
            <a:ext cx="3664744" cy="3128129"/>
          </a:xfrm>
          <a:prstGeom prst="roundRect">
            <a:avLst>
              <a:gd name="adj" fmla="val 3046"/>
            </a:avLst>
          </a:prstGeom>
          <a:solidFill>
            <a:srgbClr val="404040"/>
          </a:solidFill>
          <a:ln w="7620">
            <a:solidFill>
              <a:srgbClr val="59595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14624" y="2708077"/>
            <a:ext cx="319587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Market Unpredictability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14624" y="3552825"/>
            <a:ext cx="319587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Stock prices fluctuate rapidly due to countless variables, making pattern recognition extremely challenging for human analysis alone.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748" y="2473643"/>
            <a:ext cx="3664863" cy="3128129"/>
          </a:xfrm>
          <a:prstGeom prst="roundRect">
            <a:avLst>
              <a:gd name="adj" fmla="val 3046"/>
            </a:avLst>
          </a:prstGeom>
          <a:solidFill>
            <a:srgbClr val="404040"/>
          </a:solidFill>
          <a:ln w="7620">
            <a:solidFill>
              <a:srgbClr val="59595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406182" y="270807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Data Overload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406182" y="3198495"/>
            <a:ext cx="319599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Financial markets generate massive amounts of data daily, overwhelming investors who lack sophisticated analytical tools.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5828586"/>
            <a:ext cx="7556421" cy="1685092"/>
          </a:xfrm>
          <a:prstGeom prst="roundRect">
            <a:avLst>
              <a:gd name="adj" fmla="val 5654"/>
            </a:avLst>
          </a:prstGeom>
          <a:solidFill>
            <a:srgbClr val="404040"/>
          </a:solidFill>
          <a:ln w="7620">
            <a:solidFill>
              <a:srgbClr val="59595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14624" y="60630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Decision Paralysis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14624" y="6553438"/>
            <a:ext cx="70875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Without clear insights, investors often make emotional rather than data-driven decisions, leading to suboptimal portfolio performance.</a:t>
            </a:r>
            <a:endParaRPr lang="en-US" sz="175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91EA8AC-046E-7C82-5861-0E1F9E61D2BF}"/>
              </a:ext>
            </a:extLst>
          </p:cNvPr>
          <p:cNvSpPr/>
          <p:nvPr/>
        </p:nvSpPr>
        <p:spPr>
          <a:xfrm>
            <a:off x="12778450" y="7627716"/>
            <a:ext cx="1828800" cy="578734"/>
          </a:xfrm>
          <a:prstGeom prst="rect">
            <a:avLst/>
          </a:prstGeom>
          <a:solidFill>
            <a:srgbClr val="191717"/>
          </a:solidFill>
          <a:ln>
            <a:solidFill>
              <a:srgbClr val="1917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4169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Strategic Objectives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30409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Mona Sans Light" pitchFamily="34" charset="0"/>
                <a:ea typeface="Mona Sans Light" pitchFamily="34" charset="-122"/>
                <a:cs typeface="Mona Sans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659142"/>
            <a:ext cx="6407944" cy="30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2833449"/>
            <a:ext cx="379095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Data Processing Excellence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323868"/>
            <a:ext cx="640794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Clean and standardize historical stock data to ensure accuracy and reliability for all downstream analytics and modeling processes.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428548" y="230409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Mona Sans Light" pitchFamily="34" charset="0"/>
                <a:ea typeface="Mona Sans Light" pitchFamily="34" charset="-122"/>
                <a:cs typeface="Mona Sans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2659142"/>
            <a:ext cx="6408063" cy="30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7428548" y="2833449"/>
            <a:ext cx="331089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Interactive Visualization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428548" y="3323868"/>
            <a:ext cx="640806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Build comprehensive dashboards and charts that reveal market trends, performance patterns, and comparative analysis across multiple securities.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480941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Mona Sans Light" pitchFamily="34" charset="0"/>
                <a:ea typeface="Mona Sans Light" pitchFamily="34" charset="-122"/>
                <a:cs typeface="Mona Sans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5164455"/>
            <a:ext cx="6407944" cy="30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793790" y="5338763"/>
            <a:ext cx="382357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Web Application Integration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93790" y="5829181"/>
            <a:ext cx="640794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Deploy insights through a Flask-based platform that provides real-time access to analytics for investors and financial professionals.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428548" y="480941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Mona Sans Light" pitchFamily="34" charset="0"/>
                <a:ea typeface="Mona Sans Light" pitchFamily="34" charset="-122"/>
                <a:cs typeface="Mona Sans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428548" y="5164455"/>
            <a:ext cx="6408063" cy="30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7428548" y="5338763"/>
            <a:ext cx="288619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Decision Automation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428548" y="5829181"/>
            <a:ext cx="640806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Create intelligent systems that enhance decision-making speed and accuracy through automated analysis and user-friendly interfaces.</a:t>
            </a:r>
            <a:endParaRPr lang="en-US" sz="17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5FB662-45AF-16C8-6B49-FE7EAE12A32B}"/>
              </a:ext>
            </a:extLst>
          </p:cNvPr>
          <p:cNvSpPr/>
          <p:nvPr/>
        </p:nvSpPr>
        <p:spPr>
          <a:xfrm>
            <a:off x="12778450" y="7627716"/>
            <a:ext cx="1828800" cy="578734"/>
          </a:xfrm>
          <a:prstGeom prst="rect">
            <a:avLst/>
          </a:prstGeom>
          <a:solidFill>
            <a:srgbClr val="191717"/>
          </a:solidFill>
          <a:ln>
            <a:solidFill>
              <a:srgbClr val="1917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9361" y="642104"/>
            <a:ext cx="4281488" cy="5351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Dataset Foundation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599361" y="1348502"/>
            <a:ext cx="6507004" cy="821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Our comprehensive stocks.csv dataset serves as the analytical backbone, containing rich historical price data and market attributes that enable deep insights into market behavior.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9361" y="2324100"/>
            <a:ext cx="6507004" cy="273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Historical price movements and volume data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9361" y="2657832"/>
            <a:ext cx="6507004" cy="273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Multi-timeframe analysis capabilities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9361" y="2991564"/>
            <a:ext cx="6507004" cy="273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Cross-stock comparison metrics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9361" y="3325297"/>
            <a:ext cx="6507004" cy="273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Growth opportunity identification tools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9361" y="3753207"/>
            <a:ext cx="6507004" cy="821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This robust dataset enables tracking of price fluctuations, identification of emerging opportunities, and comprehensive performance comparisons across different securities and market sectors.</a:t>
            </a:r>
            <a:endParaRPr lang="en-US" sz="13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1656" y="663535"/>
            <a:ext cx="6507004" cy="6124099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531656" y="7050659"/>
            <a:ext cx="6507004" cy="1001316"/>
          </a:xfrm>
          <a:prstGeom prst="roundRect">
            <a:avLst>
              <a:gd name="adj" fmla="val 7184"/>
            </a:avLst>
          </a:prstGeom>
          <a:solidFill>
            <a:srgbClr val="262626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2868" y="7409395"/>
            <a:ext cx="214074" cy="1712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088154" y="7264615"/>
            <a:ext cx="5779294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The dataset provides the essential foundation for all analytical processes, ensuring comprehensive market coverage and reliable insights.</a:t>
            </a:r>
            <a:endParaRPr lang="en-US" sz="13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16E23B-063C-057B-C0CB-14BE4B711FA8}"/>
              </a:ext>
            </a:extLst>
          </p:cNvPr>
          <p:cNvSpPr/>
          <p:nvPr/>
        </p:nvSpPr>
        <p:spPr>
          <a:xfrm>
            <a:off x="12871048" y="7658762"/>
            <a:ext cx="1736202" cy="547688"/>
          </a:xfrm>
          <a:prstGeom prst="rect">
            <a:avLst/>
          </a:prstGeom>
          <a:solidFill>
            <a:srgbClr val="191717"/>
          </a:solidFill>
          <a:ln>
            <a:solidFill>
              <a:srgbClr val="1917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CA9FE07-859B-BBA5-0EC2-378CD9371B02}"/>
              </a:ext>
            </a:extLst>
          </p:cNvPr>
          <p:cNvSpPr/>
          <p:nvPr/>
        </p:nvSpPr>
        <p:spPr>
          <a:xfrm>
            <a:off x="12859473" y="7569032"/>
            <a:ext cx="1167612" cy="471368"/>
          </a:xfrm>
          <a:prstGeom prst="rect">
            <a:avLst/>
          </a:prstGeom>
          <a:solidFill>
            <a:srgbClr val="262626"/>
          </a:solidFill>
          <a:ln>
            <a:solidFill>
              <a:srgbClr val="26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03504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99942" y="641271"/>
            <a:ext cx="5866448" cy="6371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Analytical Methodology</a:t>
            </a:r>
            <a:endParaRPr lang="en-US" sz="40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942" y="1584127"/>
            <a:ext cx="1019413" cy="150102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423190" y="1787962"/>
            <a:ext cx="2548652" cy="31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Data Preprocessing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7423190" y="2228850"/>
            <a:ext cx="6493669" cy="652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Comprehensive cleaning, validation, and standardization of raw market data to ensure analytical accuracy and consistency.</a:t>
            </a:r>
            <a:endParaRPr lang="en-US" sz="16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9942" y="3085147"/>
            <a:ext cx="1019413" cy="150102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423190" y="3288983"/>
            <a:ext cx="2548652" cy="31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Exploratory Analysis</a:t>
            </a:r>
            <a:endParaRPr lang="en-US" sz="2000" dirty="0"/>
          </a:p>
        </p:txBody>
      </p:sp>
      <p:sp>
        <p:nvSpPr>
          <p:cNvPr id="9" name="Text 4"/>
          <p:cNvSpPr/>
          <p:nvPr/>
        </p:nvSpPr>
        <p:spPr>
          <a:xfrm>
            <a:off x="7423190" y="3729871"/>
            <a:ext cx="6493669" cy="652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Statistical investigation to uncover hidden patterns, correlations, and market behaviors using advanced Python libraries.</a:t>
            </a:r>
            <a:endParaRPr lang="en-US" sz="16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9942" y="4586168"/>
            <a:ext cx="1019413" cy="150102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423190" y="4790003"/>
            <a:ext cx="3304937" cy="31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Visualization Development</a:t>
            </a:r>
            <a:endParaRPr lang="en-US" sz="2000" dirty="0"/>
          </a:p>
        </p:txBody>
      </p:sp>
      <p:sp>
        <p:nvSpPr>
          <p:cNvPr id="12" name="Text 6"/>
          <p:cNvSpPr/>
          <p:nvPr/>
        </p:nvSpPr>
        <p:spPr>
          <a:xfrm>
            <a:off x="7423190" y="5230892"/>
            <a:ext cx="6493669" cy="652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Creation of interactive charts, graphs, and dashboards that transform complex data into intuitive visual insights.</a:t>
            </a:r>
            <a:endParaRPr lang="en-US" sz="16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9942" y="6087189"/>
            <a:ext cx="1019413" cy="1501021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423190" y="6291024"/>
            <a:ext cx="3582233" cy="31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Web Application Deployment</a:t>
            </a:r>
            <a:endParaRPr lang="en-US" sz="2000" dirty="0"/>
          </a:p>
        </p:txBody>
      </p:sp>
      <p:sp>
        <p:nvSpPr>
          <p:cNvPr id="15" name="Text 8"/>
          <p:cNvSpPr/>
          <p:nvPr/>
        </p:nvSpPr>
        <p:spPr>
          <a:xfrm>
            <a:off x="7423190" y="6731913"/>
            <a:ext cx="6493669" cy="652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Flask-based platform development for dynamic accessibility and real-time user interaction with analytical results.</a:t>
            </a:r>
            <a:endParaRPr lang="en-US" sz="16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F138F18-34C3-16FD-51E9-A5BCC7D27E17}"/>
              </a:ext>
            </a:extLst>
          </p:cNvPr>
          <p:cNvSpPr/>
          <p:nvPr/>
        </p:nvSpPr>
        <p:spPr>
          <a:xfrm>
            <a:off x="12778450" y="7627716"/>
            <a:ext cx="1828800" cy="578734"/>
          </a:xfrm>
          <a:prstGeom prst="rect">
            <a:avLst/>
          </a:prstGeom>
          <a:solidFill>
            <a:srgbClr val="191717"/>
          </a:solidFill>
          <a:ln>
            <a:solidFill>
              <a:srgbClr val="1917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0"/>
            <a:ext cx="603504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1638" y="731401"/>
            <a:ext cx="7700724" cy="1288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Key Market Insights Discovered</a:t>
            </a:r>
            <a:endParaRPr lang="en-US" sz="40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638" y="2329339"/>
            <a:ext cx="515422" cy="51542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494711" y="2451735"/>
            <a:ext cx="2577584" cy="322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Seasonal Patterns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1494711" y="2897624"/>
            <a:ext cx="6927652" cy="989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Analysis revealed consistent seasonal variations in stock performance, with specific sectors showing predictable cyclical behavior that investors can leverage for timing strategies.</a:t>
            </a:r>
            <a:endParaRPr lang="en-US" sz="16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638" y="4299704"/>
            <a:ext cx="515422" cy="51542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494711" y="4422100"/>
            <a:ext cx="2577584" cy="322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Volatility Indicators</a:t>
            </a:r>
            <a:endParaRPr lang="en-US" sz="2000" dirty="0"/>
          </a:p>
        </p:txBody>
      </p:sp>
      <p:sp>
        <p:nvSpPr>
          <p:cNvPr id="9" name="Text 4"/>
          <p:cNvSpPr/>
          <p:nvPr/>
        </p:nvSpPr>
        <p:spPr>
          <a:xfrm>
            <a:off x="1494711" y="4867989"/>
            <a:ext cx="6927652" cy="659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Interactive visualizations highlight market volatility patterns, enabling users to identify high-risk periods and adjust portfolio strategies accordingly.</a:t>
            </a:r>
            <a:endParaRPr lang="en-US" sz="16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1638" y="5940147"/>
            <a:ext cx="515422" cy="51542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494711" y="6062543"/>
            <a:ext cx="2577584" cy="322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Growth Trajectories</a:t>
            </a:r>
            <a:endParaRPr lang="en-US" sz="2000" dirty="0"/>
          </a:p>
        </p:txBody>
      </p:sp>
      <p:sp>
        <p:nvSpPr>
          <p:cNvPr id="12" name="Text 6"/>
          <p:cNvSpPr/>
          <p:nvPr/>
        </p:nvSpPr>
        <p:spPr>
          <a:xfrm>
            <a:off x="1494711" y="6508433"/>
            <a:ext cx="6927652" cy="989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Long-term growth indicators emerged from the data, revealing which securities demonstrate sustainable upward momentum versus short-term fluctuations.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954" y="611267"/>
            <a:ext cx="13074491" cy="1389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Flask Web Application: Real-Time Market Intelligence</a:t>
            </a:r>
            <a:endParaRPr lang="en-US" sz="4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954" y="2584133"/>
            <a:ext cx="4904423" cy="49044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32208" y="2556391"/>
            <a:ext cx="3925848" cy="34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Interactive Platform Features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6232208" y="3125986"/>
            <a:ext cx="7627739" cy="355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Real-time stock data exploration and analysis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32208" y="3559373"/>
            <a:ext cx="7627739" cy="355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Dynamic visualization generation and customization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232208" y="3992761"/>
            <a:ext cx="7627739" cy="355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User-friendly interface designed for all experience levels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6232208" y="4426148"/>
            <a:ext cx="7627739" cy="355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Comprehensive reporting and export capabilities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6232208" y="4981813"/>
            <a:ext cx="7627739" cy="1066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The Flask application bridges the gap between complex data science and practical investment tools, providing immediate access to sophisticated analytics through an intuitive web interface.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6565583" y="6298763"/>
            <a:ext cx="7294364" cy="711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Empowering investors with professional-grade analytics in an accessible format that transforms how financial decisions are made.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6232208" y="6298763"/>
            <a:ext cx="30480" cy="71127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BC7D26E-15D0-CD8D-D37B-86ECC27459A7}"/>
              </a:ext>
            </a:extLst>
          </p:cNvPr>
          <p:cNvSpPr/>
          <p:nvPr/>
        </p:nvSpPr>
        <p:spPr>
          <a:xfrm>
            <a:off x="12778450" y="7627716"/>
            <a:ext cx="1828800" cy="578734"/>
          </a:xfrm>
          <a:prstGeom prst="rect">
            <a:avLst/>
          </a:prstGeom>
          <a:solidFill>
            <a:srgbClr val="191717"/>
          </a:solidFill>
          <a:ln>
            <a:solidFill>
              <a:srgbClr val="1917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0"/>
            <a:ext cx="603504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653296"/>
            <a:ext cx="739961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Project Impact and Results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309527" y="1809099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100%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793790" y="2847380"/>
            <a:ext cx="232981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Data Processing Success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3692128"/>
            <a:ext cx="2329815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Complete transformation of raw stock data into meaningful, actionable insights for investment decision-making.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2903660" y="1809100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Real-time</a:t>
            </a:r>
            <a:endParaRPr lang="en-US" sz="5850" dirty="0"/>
          </a:p>
        </p:txBody>
      </p:sp>
      <p:sp>
        <p:nvSpPr>
          <p:cNvPr id="8" name="Text 5"/>
          <p:cNvSpPr/>
          <p:nvPr/>
        </p:nvSpPr>
        <p:spPr>
          <a:xfrm>
            <a:off x="3407093" y="2847380"/>
            <a:ext cx="232981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Interactive Access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3407093" y="3692128"/>
            <a:ext cx="232981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Deployed web application provides instant access to market analytics and visualization tools.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6337464" y="1809947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Multi-user</a:t>
            </a:r>
            <a:endParaRPr lang="en-US" sz="5850" dirty="0"/>
          </a:p>
        </p:txBody>
      </p:sp>
      <p:sp>
        <p:nvSpPr>
          <p:cNvPr id="11" name="Text 8"/>
          <p:cNvSpPr/>
          <p:nvPr/>
        </p:nvSpPr>
        <p:spPr>
          <a:xfrm>
            <a:off x="6020395" y="2847380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Accessibility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020395" y="3337798"/>
            <a:ext cx="232981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Platform designed to serve both novice investors and experienced financial analysts effectively.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793790" y="6124694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The project successfully demonstrates how combining data analytics with modern web technology can dramatically simplify complex financial decision-making processes while maintaining analytical rigor and accuracy.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0"/>
            <a:ext cx="603504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5922" y="606147"/>
            <a:ext cx="7732157" cy="126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Future Expansion Opportunities</a:t>
            </a:r>
            <a:endParaRPr lang="en-US" sz="3950" dirty="0"/>
          </a:p>
        </p:txBody>
      </p:sp>
      <p:sp>
        <p:nvSpPr>
          <p:cNvPr id="4" name="Shape 1"/>
          <p:cNvSpPr/>
          <p:nvPr/>
        </p:nvSpPr>
        <p:spPr>
          <a:xfrm>
            <a:off x="932855" y="2169557"/>
            <a:ext cx="22860" cy="4258985"/>
          </a:xfrm>
          <a:prstGeom prst="roundRect">
            <a:avLst>
              <a:gd name="adj" fmla="val 370618"/>
            </a:avLst>
          </a:prstGeom>
          <a:solidFill>
            <a:srgbClr val="595959"/>
          </a:solidFill>
          <a:ln/>
        </p:spPr>
      </p:sp>
      <p:sp>
        <p:nvSpPr>
          <p:cNvPr id="5" name="Shape 2"/>
          <p:cNvSpPr/>
          <p:nvPr/>
        </p:nvSpPr>
        <p:spPr>
          <a:xfrm>
            <a:off x="1136928" y="2385060"/>
            <a:ext cx="605076" cy="22860"/>
          </a:xfrm>
          <a:prstGeom prst="roundRect">
            <a:avLst>
              <a:gd name="adj" fmla="val 370618"/>
            </a:avLst>
          </a:prstGeom>
          <a:solidFill>
            <a:srgbClr val="595959"/>
          </a:solidFill>
          <a:ln/>
        </p:spPr>
      </p:sp>
      <p:sp>
        <p:nvSpPr>
          <p:cNvPr id="6" name="Shape 3"/>
          <p:cNvSpPr/>
          <p:nvPr/>
        </p:nvSpPr>
        <p:spPr>
          <a:xfrm>
            <a:off x="705922" y="2169557"/>
            <a:ext cx="453866" cy="453866"/>
          </a:xfrm>
          <a:prstGeom prst="roundRect">
            <a:avLst>
              <a:gd name="adj" fmla="val 18667"/>
            </a:avLst>
          </a:prstGeom>
          <a:solidFill>
            <a:srgbClr val="404040"/>
          </a:solidFill>
          <a:ln w="7620">
            <a:solidFill>
              <a:srgbClr val="59595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81586" y="2207419"/>
            <a:ext cx="302538" cy="378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350" dirty="0">
                <a:solidFill>
                  <a:srgbClr val="FFFFF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1</a:t>
            </a:r>
            <a:endParaRPr lang="en-US" sz="2350" dirty="0"/>
          </a:p>
        </p:txBody>
      </p:sp>
      <p:sp>
        <p:nvSpPr>
          <p:cNvPr id="8" name="Text 5"/>
          <p:cNvSpPr/>
          <p:nvPr/>
        </p:nvSpPr>
        <p:spPr>
          <a:xfrm>
            <a:off x="1941433" y="2238851"/>
            <a:ext cx="3576280" cy="315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Machine Learning Integration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1941433" y="2674977"/>
            <a:ext cx="6496645" cy="645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Implement predictive models for price forecasting and automated trading signal generation using advanced ML algorithms.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1136928" y="3939183"/>
            <a:ext cx="605076" cy="22860"/>
          </a:xfrm>
          <a:prstGeom prst="roundRect">
            <a:avLst>
              <a:gd name="adj" fmla="val 370618"/>
            </a:avLst>
          </a:prstGeom>
          <a:solidFill>
            <a:srgbClr val="595959"/>
          </a:solidFill>
          <a:ln/>
        </p:spPr>
      </p:sp>
      <p:sp>
        <p:nvSpPr>
          <p:cNvPr id="11" name="Shape 8"/>
          <p:cNvSpPr/>
          <p:nvPr/>
        </p:nvSpPr>
        <p:spPr>
          <a:xfrm>
            <a:off x="705922" y="3723680"/>
            <a:ext cx="453866" cy="453866"/>
          </a:xfrm>
          <a:prstGeom prst="roundRect">
            <a:avLst>
              <a:gd name="adj" fmla="val 18667"/>
            </a:avLst>
          </a:prstGeom>
          <a:solidFill>
            <a:srgbClr val="404040"/>
          </a:solidFill>
          <a:ln w="7620">
            <a:solidFill>
              <a:srgbClr val="59595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81586" y="3761542"/>
            <a:ext cx="302538" cy="378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350" dirty="0">
                <a:solidFill>
                  <a:srgbClr val="FFFFF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2</a:t>
            </a:r>
            <a:endParaRPr lang="en-US" sz="2350" dirty="0"/>
          </a:p>
        </p:txBody>
      </p:sp>
      <p:sp>
        <p:nvSpPr>
          <p:cNvPr id="13" name="Text 10"/>
          <p:cNvSpPr/>
          <p:nvPr/>
        </p:nvSpPr>
        <p:spPr>
          <a:xfrm>
            <a:off x="1941433" y="3792974"/>
            <a:ext cx="3078123" cy="315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Global Market Expansion</a:t>
            </a:r>
            <a:endParaRPr lang="en-US" sz="1950" dirty="0"/>
          </a:p>
        </p:txBody>
      </p:sp>
      <p:sp>
        <p:nvSpPr>
          <p:cNvPr id="14" name="Text 11"/>
          <p:cNvSpPr/>
          <p:nvPr/>
        </p:nvSpPr>
        <p:spPr>
          <a:xfrm>
            <a:off x="1941433" y="4229100"/>
            <a:ext cx="6496645" cy="645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Extend analysis to international markets, cryptocurrency, and alternative investment vehicles for comprehensive coverage.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1136928" y="5493306"/>
            <a:ext cx="605076" cy="22860"/>
          </a:xfrm>
          <a:prstGeom prst="roundRect">
            <a:avLst>
              <a:gd name="adj" fmla="val 370618"/>
            </a:avLst>
          </a:prstGeom>
          <a:solidFill>
            <a:srgbClr val="595959"/>
          </a:solidFill>
          <a:ln/>
        </p:spPr>
      </p:sp>
      <p:sp>
        <p:nvSpPr>
          <p:cNvPr id="16" name="Shape 13"/>
          <p:cNvSpPr/>
          <p:nvPr/>
        </p:nvSpPr>
        <p:spPr>
          <a:xfrm>
            <a:off x="705922" y="5277803"/>
            <a:ext cx="453866" cy="453866"/>
          </a:xfrm>
          <a:prstGeom prst="roundRect">
            <a:avLst>
              <a:gd name="adj" fmla="val 18667"/>
            </a:avLst>
          </a:prstGeom>
          <a:solidFill>
            <a:srgbClr val="404040"/>
          </a:solidFill>
          <a:ln w="7620">
            <a:solidFill>
              <a:srgbClr val="59595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81586" y="5315664"/>
            <a:ext cx="302538" cy="378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350" dirty="0">
                <a:solidFill>
                  <a:srgbClr val="FFFFF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3</a:t>
            </a:r>
            <a:endParaRPr lang="en-US" sz="2350" dirty="0"/>
          </a:p>
        </p:txBody>
      </p:sp>
      <p:sp>
        <p:nvSpPr>
          <p:cNvPr id="18" name="Text 15"/>
          <p:cNvSpPr/>
          <p:nvPr/>
        </p:nvSpPr>
        <p:spPr>
          <a:xfrm>
            <a:off x="1941433" y="5347097"/>
            <a:ext cx="4205645" cy="315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Advanced Dashboard Deployment</a:t>
            </a:r>
            <a:endParaRPr lang="en-US" sz="1950" dirty="0"/>
          </a:p>
        </p:txBody>
      </p:sp>
      <p:sp>
        <p:nvSpPr>
          <p:cNvPr id="19" name="Text 16"/>
          <p:cNvSpPr/>
          <p:nvPr/>
        </p:nvSpPr>
        <p:spPr>
          <a:xfrm>
            <a:off x="1941433" y="5783223"/>
            <a:ext cx="6496645" cy="645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Develop sophisticated real-time trading dashboards with live market feeds and advanced analytical capabilities.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705922" y="6655475"/>
            <a:ext cx="7732157" cy="967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This foundation establishes endless possibilities for enhancing financial market analysis through technology, positioning us at the forefront of data-driven investment intelligence.</a:t>
            </a:r>
            <a:endParaRPr lang="en-US" sz="155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754</Words>
  <Application>Microsoft Office PowerPoint</Application>
  <PresentationFormat>Custom</PresentationFormat>
  <Paragraphs>89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Mona Sans Light</vt:lpstr>
      <vt:lpstr>Mona Sans Semi Bold</vt:lpstr>
      <vt:lpstr>Funnel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Zakir Ahammad</cp:lastModifiedBy>
  <cp:revision>3</cp:revision>
  <dcterms:created xsi:type="dcterms:W3CDTF">2025-09-21T10:11:06Z</dcterms:created>
  <dcterms:modified xsi:type="dcterms:W3CDTF">2025-09-22T09:29:27Z</dcterms:modified>
</cp:coreProperties>
</file>